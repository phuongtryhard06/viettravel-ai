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D68"/>
          </a:solidFill>
          <a:ln>
            <a:solidFill>
              <a:srgbClr val="0A4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5BFDB"/>
          </a:solidFill>
          <a:ln>
            <a:solidFill>
              <a:srgbClr val="05B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5BFDB"/>
                </a:solidFill>
              </a:defRPr>
            </a:pPr>
            <a:r>
              <a:t>BÁO CÁO ĐỒ ÁN / DỰ ÁN TỐT NGHIỆP CÔNG NGHỆ THÔNG TIN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</a:defRPr>
            </a:pPr>
            <a:r>
              <a:t>VIETTRAVEL AI: HỆ THỐNG TRỢ LÝ DU LỊCH ĐA TÁC TỬ</a:t>
            </a:r>
            <a:br/>
            <a:r>
              <a:t>TÍCH HỢP BẢN ĐỒ SỐ &amp; CÀO ẢNH THỰC THỜI GIAN THỰC</a:t>
            </a:r>
          </a:p>
          <a:p>
            <a:pPr>
              <a:defRPr sz="1300">
                <a:solidFill>
                  <a:srgbClr val="DCE5E9"/>
                </a:solidFill>
              </a:defRPr>
            </a:pPr>
            <a:r>
              <a:t>Hệ thống Multi-Agent AI tự động lập lịch trình, tối ưu cự ly GPS, dự toán chi phí tất định và cào dữ liệu ảnh thực địa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480560"/>
            <a:ext cx="9966960" cy="1463040"/>
          </a:xfrm>
          <a:prstGeom prst="roundRect">
            <a:avLst/>
          </a:prstGeom>
          <a:solidFill>
            <a:srgbClr val="0E5D7E"/>
          </a:solidFill>
          <a:ln w="12700">
            <a:solidFill>
              <a:srgbClr val="05B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Học viên / Sinh viên thực hiện: Nhóm tác giả VietTravel AI</a:t>
            </a:r>
          </a:p>
          <a:p>
            <a:pPr>
              <a:spcAft>
                <a:spcPts val="400"/>
              </a:spcAft>
              <a:defRPr sz="1100">
                <a:solidFill>
                  <a:srgbClr val="D0E8F2"/>
                </a:solidFill>
              </a:defRPr>
            </a:pPr>
            <a:r>
              <a:t>Chuyên ngành: Kỹ thuật Phần mềm &amp; Trí tuệ Nhân tạo Ứng dụng</a:t>
            </a:r>
          </a:p>
          <a:p>
            <a:pPr>
              <a:defRPr sz="1050">
                <a:solidFill>
                  <a:srgbClr val="05BFDB"/>
                </a:solidFill>
              </a:defRPr>
            </a:pPr>
            <a:r>
              <a:t>Công nghệ cốt lõi: Multi-Agent System (6 Agents) • PostgreSQL 30.800+ OSM POIs • Gemini 3 Flash • Flask-RESTX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01. ĐẶT 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Thực Trạng &amp; 'Nỗi Đau' Của Du Khách Tự Túc Hiện 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02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1. Phân Mảnh Thông Tin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Người dùng phải mở 10-15 tab cùng lúc: Google Maps, TikTok, Facebook, Blog lữ hành, Excel tính tiền.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Mất từ 3 đến 5 ngày chỉ để tổng hợp xong một lịch trình du lịch sơ bộ.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Thiếu tính nhất quán giữa cự ly di chuyển và thời gian thực tế trên đường.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2. Khó Khăn Lập Lịch Trình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Người đi du lịch không rành địa hình địa phương, dễ xếp các điểm ngược đường làm mất thời gian.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Lộ trình bị quá tải (dồn quá nhiều điểm trong một buổi) hoặc không kịp giờ mở cửa.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Lúng túng khi chọn phương tiện di chuyển (xe máy, taxi, đi bộ) và lộ trình đèo núi.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3. Rủi Ro Dự Toán Chi Phí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Không biết ước lượng ngân sách bao nhiêu là đủ cho từng điểm đến.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Dễ phát sinh chi phí ẩn (phí bảo hiểm, xăng xe, vé tham quan, phí phụ thu cuối tuần).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Không có công cụ tự động phân bổ ngân sách chuẩn xác theo quy mô đoàn (1, 2, 4 người...).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02. KHOẢNG TRỐNG CÔNG NGHỆ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Hạn Chế Của Các AI Tổng Quát (ChatGPT, Claude Bản Web)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03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392B"/>
                </a:solidFill>
              </a:defRPr>
            </a:pPr>
            <a:r>
              <a:t>❌ Lỗi 'Ảo Giác' Địa Danh (Hallucination)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Tự bịa ra các địa điểm du lịch, khách sạn hoặc quán ăn không có thật ngoài đời.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Gợi ý các địa điểm đã đóng cửa, đổi địa chỉ hoặc không đúng với văn hóa địa phương.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392B"/>
                </a:solidFill>
              </a:defRPr>
            </a:pPr>
            <a:r>
              <a:t>❌ Thiếu Dữ Liệu Tọa Độ GPS Thực Tế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Không có khả năng định vị tọa độ GPS chính xác (Latitude/Longitude).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Không tạo được đường link Google Maps chỉ đường 1 chạm cho người dùng trên điện thoại.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6634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392B"/>
                </a:solidFill>
              </a:defRPr>
            </a:pPr>
            <a:r>
              <a:t>❌ Link Ảnh Bị Chết (Broken Images) Hoặc Ảnh Giả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Tự sinh ra các đường dẫn URL ảnh ngẫu nhiên bị lỗi HTTP 404.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Chỉ cung cấp văn bản thuần túy thiếu trực quan, người dùng không hình dung được phong cảnh.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6634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392B"/>
                </a:solidFill>
              </a:defRPr>
            </a:pPr>
            <a:r>
              <a:t>❌ Tính Toán Ngân Sách Sai Lệch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Phép tính cộng trừ nhân chia của LLM thuần túy không đáng tin cậy (Non-deterministic).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Không tự động nhân chi phí ăn uống/lưu trú chính xác theo số lượng thành viên trong đoàn.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03. GIẢI PHÁP ĐỀ XUẤT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Giải Pháp Đột Phá: VietTravel AI - Trợ Lý Du Lịch All-in-One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04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1. Kiến Trúc Multi-Agent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Chia nhỏ bài toán phức tạp thành 6 Tác tử (Agents) chuyên biệt.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Mỗi Agent thực hiện một nhiệm vụ tối ưu: Phân tích ý định -&gt; Tìm kiếm -&gt; Cào ảnh -&gt; Lập lịch -&gt; Tính ngân sách.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Orchestrator điều phối tập trung với bộ nhớ chung (TravelSessionState).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2. Dữ Liệu Thực Tế (PostgreSQL)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Hơn 30.800+ địa điểm OSM Staging có tọa độ WGS84 thật trên toàn quốc.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100% địa điểm có link Google Maps dẫn đường trực tiếp.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Tính toán cự ly đường bộ và thời gian di chuyển bằng thuật toán Haversine chuẩn xác.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3. Cào Ảnh Thực Địa Live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Tác tử cào ảnh trực tiếp theo thời gian thực từ Wikipedia và Wikimedia Commons.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Bộ lọc chuẩn hóa bỏ dấu tiếng Việt loại bỏ 100% ảnh rác, ảnh bàn thờ, điện thờ, tài liệu pdf.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Cung cấp ảnh phong cảnh thiên nhiên độ phân giải cao, chân thực và sống động.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04. THIẾT KẾ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Kiến Trúc Tổng Thể Hệ Thống 3 Tầng (3-Tier Architecture)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05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8395"/>
                </a:solidFill>
              </a:defRPr>
            </a:pPr>
            <a:r>
              <a:t>TẦNG 1: GIAO DIỆN (UI/UX)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Thiết kế phong cách Minimalist Neutral hỗ trợ Dark/Light mode linh hoạt.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Chatbot tương tác tự nhiên: Hỏi đáp trực tiếp bằng tiếng Việt, Anh, Nhật, Hàn, Trung.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Tab Lịch trình (Itinerary Cards): Hiển thị chi tiết từng ngày, thẻ bài điểm dừng, chỉ dẫn bản đồ và cự ly.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Công nghệ: HTML5, CSS3 Tokens, Vanilla JS tối ưu tốc độ render DOM tức thì.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8395"/>
                </a:solidFill>
              </a:defRPr>
            </a:pPr>
            <a:r>
              <a:t>TẦNG 2: ĐIỀU PHỐI (ORCHESTRATION)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Backend Framework: Python 3.10, Flask &amp; Flask-RESTX (OpenAPI/Swagger UI).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Coordinator Agent: Bounded Multi-Agent Orchestrator quản lý vòng lặp &lt;= 3.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Tool Registry: Đóng gói và kiểm soát ngân sách gọi công cụ (Tool Call Budget &lt;= 10).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Session Manager: Quản lý trạng thái phiên làm việc không bị mất ngữ cảnh qua JWT.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8395"/>
                </a:solidFill>
              </a:defRPr>
            </a:pPr>
            <a:r>
              <a:t>TẦNG 3: DỮ LIỆU &amp; AI GROUNDING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PostgreSQL: 30.800+ POIs OSM Staging với chỉ mục không gian &amp; trigram search.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Google Gemini AI: gemini-3-flash kết hợp GeminiKeyManager (8 API Keys rotation).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Media Crawlers: Wikipedia API &amp; Wikimedia Commons API cho ảnh thực địa.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Dockerized Services: Đóng gói Docker-Compose sẵn sàng triển khai Cloud.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05. HỆ THỐNG ĐA TÁC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Mô Hình 6 Tác Tử Chuyên Biệt (Multi-Agent System)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06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3774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1. Intent &amp; Context Agent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Phân loại 10 ý định người dùng (Tạo lịch, đổi ngân sách, đổi số người, xóa trạm...).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Trích xuất thực thể &amp; bảo toàn bộ nhớ (TravelSessionState).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23774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2. Destination Research Agent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Truy vấn kho 30.800+ điểm đến PostgreSQL OSM Staging.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Loại bỏ điểm trùng lặp bằng thuật toán chuẩn hóa tên &amp; tọa độ GPS.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23774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3. Real-time Image Crawler Agent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Cào ảnh thực tế động từ Wikipedia &amp; Wikimedia Commons.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Bộ lọc Unicode bỏ dấu chống ảnh bàn thờ, điện thờ, file pdf.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291840" cy="23774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4. Itinerary Planner Agent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Sắp xếp lộ trình theo khung giờ (Sáng, Trưa, Chiều, Tối).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Tính cự ly Haversine x 1.3 và kiểm định xung đột thời gian.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931920"/>
            <a:ext cx="3291840" cy="23774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11480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5. Budget Calculator Agent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Công thức tất định chia 5 khoản mục chi phí.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Tự động nhân chuẩn theo quy mô đoàn (1, 2, 4 người...).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31920"/>
            <a:ext cx="3291840" cy="23774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11480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6. Coordinator Orchestrator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'Nhạc trưởng' kiểm soát tối đa 3 vòng lặp điều phối.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Ghi nhận Task Trace audit log minh bạch cho từng lần chạy.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06. CHI TIẾT TÁC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Agent 1 &amp; 2: Phân Tích Ý Định &amp; Khám Phá Địa Lý (OSM)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07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Agent 1: Intent &amp; Context Agent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Nhiệm vụ: Lắng nghe và hiểu chính xác nhu cầu du khách trước khi phân phối tác vụ.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Nhận diện 10 Intent chuẩn hóa: INTENT_CREATE_ITINERARY, INTENT_SEARCH_PLACES, INTENT_CHANGE_BUDGET, INTENT_CHANGE_GROUP_SIZE, INTENT_REMOVE_STOP...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Trích xuất thực thể thông minh (Entities): Điểm đến, số ngày (duration_days), số thành viên đoàn (group_size), sở thích cá nhân.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Bảo toàn ngữ cảnh: Lưu trữ vào TravelSessionState, tránh việc hỏi đi hỏi lại thông tin người dùng đã cung cấp ở lượt chat trước.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Agent 2: Destination Research Agent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Nhiệm vụ: Cung cấp danh sách các điểm tham quan và quán ăn chuẩn xác làm dữ liệu nguồn.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Truy vấn không gian: Tìm kiếm theo bán kính (radius_km) quanh tâm hành chính của 63 tỉnh thành Việt Nam.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Thuật toán Deduplication: Chuẩn hóa xâu ký tự và so sánh khoảng cách để loại bỏ triệt để các địa điểm bị trùng lặp.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Không ảo giác (Zero-Hallucination): Chỉ trả về các thực thể có mã OSM ID thật, địa chỉ thật và tọa độ GPS WGS84 có trong CSDL.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Tích hợp Tool: Tự động kích hoạt crawl_real_image để bổ sung ảnh thật cho điểm đến nếu dữ liệu gốc bị thiếu.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07. CHI TIẾT TÁC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Agent 3: Tác Tử Cào Ảnh Thực Địa Độc Lập (Image Crawler Agent)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08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1. Nguồn Cào Dữ Liệu Mở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Wikipedia API (tiếng Việt &amp; Anh): Lấy ảnh thumbnail đại diện chính thức của trang bài viết.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Wikimedia Commons Search API: Tìm kiếm kho ảnh thực địa mở với các từ khóa chuyên sâu 'landscape', 'scenery', 'du lịch'.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Bing Image Scraper: Hỗ trợ tìm kiếm bổ sung cho các quán ăn hoặc địa điểm check-in mới nổi.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2. Bộ Lọc Unicode Bỏ Dấu Đa Tầng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Chuẩn hóa xóa dấu tiếng Việt (remove_accents) và unquote URL trước khi đối chiếu từ khóa cấm.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Chặn 100% ảnh không mong muốn: 'ban tho', 'ban mau', 'dien tho', 'altar', 'shrine', 'tomb', 'cemetery', 'tuong', 'panoramio'...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Loại bỏ hoàn toàn các tệp vector (.svg) và tài liệu quét sách cổ (.pdf, .djvu).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3. Bàn Giao Danh Mục Ảnh Sạch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Cào riêng ảnh Toàn cảnh Hero Landscape cho Phần I (ví dụ Hà Giang -&gt; Dốc Thẩm Mã, Mã Pí Lèng).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Cào riêng ảnh danh thắng cho Phần IV (Cột cờ Lũng Cú, Phố cổ Đồng Văn, Hẻm Tu Sản).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Bàn giao danh mục URL ảnh thật vào prompt để Agent Hướng dẫn viên sử dụng chính xác.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08. CHI TIẾT TÁC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Agent 4: Tác Tử Lập Lịch Trình Tối Ưu Cung Đường (Planner Agent)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09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Nguyên Tắc Thiết Kế Lộ Trình Thông Minh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Phân bổ thời gian logic: Lập khung lịch trình theo 4 buổi rõ ràng trong ngày (Sáng, Trưa, Chiều, Tối).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Phù hợp nhịp sinh học: Sáng ưu tiên tham quan danh thắng thiên nhiên hoặc săn mây; Trưa nghỉ ngơi thưởng thức đặc sản; Chiều ngắm hoàng hôn; Tối dạo phố cổ/chợ đêm.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Chống chồng chéo: Mỗi ngày tối đa 3-4 điểm tham quan để du khách có thời gian trải nghiệm sâu, không bị kiệt sức vì di chuyển.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Tích hợp link bản đồ: Mỗi chặng đều có link [📍 Mở Google Maps dẫn đường] trực tiếp mở trên điện thoại.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Thuật Toán Tính Cự Ly &amp; Thời Gian Di Chuyển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Công thức Haversine: Tính toán khoảng cách cung lớn (Great-Circle Distance) giữa các tọa độ GPS liên tiếp.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Hệ số địa hình x 1.3: Đoạn đường đèo núi uốn lượn tại Việt Nam thực tế dài hơn ~30% so với đường chim bay.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Ước lượng thời gian di chuyển: Phân loại theo phương tiện (Đi bộ nội thành: ~10-15 phút; Xe máy/Taxi đường dài: tốc độ trung bình 35-40 km/h).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Trình bày trực quan: Thể hiện dạng Leg-Pills trên giao diện 'Từ Điểm A -&gt; Điểm B (~X km, ~Y phút)' không bị lỗi dồn dòng.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09. CHI TIẾT TÁC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Agent 5: Dự Toán Ngân Sách Tất Định (Budget Calculator Agent)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10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Nguyên Tắc Tất Định (Deterministic Anti-Hallucination)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Tuyệt đối không để LLM tự đoán mò phép tính số học (nguyên nhân chính gây sai lệch tiền nong).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Mọi phép tính cộng trừ nhân chia đều do hàm Python tất định (calculate_trip_budget) thực hiện.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Tự động nhận diện quy mô đoàn: Khi khách hỏi 'đi 2 người', 'gia đình 4 người', hệ thống tự động nhân chi phí theo đúng số thành viên.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So sánh với mức trần ngân sách: Tự động cảnh báo nếu lịch trình vượt quá ngân sách mục tiêu mà người dùng đặt 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Ma Trận 5 Khoản Mục Chi Phí Chi Tiết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1. Chi phí Lưu trú (Hotel/Homestay): Ước tính theo giá phòng trung bình x số đêm x số phòng.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2. Chi phí Ăn uống: Phân bổ 3 bữa chính (Sáng, Trưa, Tối) x đơn giá ẩm thực đặc sản x số người.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3. Chi phí Di chuyển: Thuê xe máy (150k-200k/ngày) hoặc taxi/xăng xe thực tế theo cung đường.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4. Vé tham quan: Tổng tiền vé các điểm danh thắng (cột cờ, đèo, thuyền sông, cáp treo...).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5. Quỹ dự phòng rủi ro 10%: Đảm bảo an toàn tài chính cho các chi phí phát sinh đột xuất.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10. CHI TIẾT TÁC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Agent 6: Tác Tử Điều Phối Bounded Orchestrator &amp; Task 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11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Cơ Chế Điều Phối Giới Hạn (Bounded Orchestration)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Giới hạn số vòng lặp (Max Iterations &lt;= 3): Ngăn chặn triệt để tình trạng các Agent gọi nhau vòng tròn vô tận gây tràn bộ nhớ.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Kiểm soát ngân sách gọi công cụ (Max Tool Budget &lt;= 10): Mỗi lượt chat chỉ được gọi tối đa 10 tool calls, đảm bảo phản hồi nhanh dưới 3-5 giây.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Bộ nhớ làm việc tập trung (Shared State): Duy trì duy nhất 1 đối tượng TravelSessionState xuyên suốt các Agent.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Định tuyến theo ý định (Selective Routing): Người dùng chỉ hỏi giá -&gt; chỉ kích hoạt Budget Agent, không gọi thừa Planner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Minh Bạch Hóa Tiến Trình (Agent Task Traces Audit Log)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Mỗi hành động của Agent đều được ghi nhận lại thành 1 bản ghi kiểm toán AgentTaskTrace.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Các trường thông tin minh bạch: Tên Agent thực thi, công cụ đã gọi, thời gian xử lý (ms), tóm tắt đầu vào &amp; đầu ra.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Cho phép hiển thị bảng kiểm toán 'AI Pipeline Diagnostics' trong tài liệu Swagger để nhà phát triển theo dõi chất lượng.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Hỗ trợ tính năng Rollback tức thì thông qua cờ tính năng (Feature Flag ENABLE_MULTI_AGENT_COORDINATOR).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11. HẠ TẦNG &amp; ỔN ĐỊNH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Cơ Chế Tự Phục Hồi &amp; Xoay Vòng API Key (Gemini Key Manager)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1. Vấn Đề Hạn Mức (Rate Limits)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API miễn phí hoặc gói tiêu chuẩn của Google Gemini thường bị giới hạn RPM (Requests Per Minute).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Lỗi HTTP 429 (Resource Exhausted) và HTTP 503 (High Demand) thường xuyên xảy ra trong giờ cao điểm.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Nếu chỉ dùng 1 key đơn lẻ, toàn bộ hệ thống sẽ bị tê liệt và báo lỗi 500 cho người dùng.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2. Quản Lý Pool 8 API Keys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GeminiKeyManager quản lý danh sách 8 API Keys độc lập được khai báo qua biến môi trường GEMINI_API_KEYS.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Tự động phát hiện lỗi HTTP 429/503 và đánh dấu key đang nghẽn vào danh sách tạm nghỉ.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Chuyển ngay sang Key khả dụng tiếp theo trong vòng 0.1 giây mà không ngắt quãng lượt chat của người dùng.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3. Cơ Chế Dự Phòng (Local Fallback)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Nếu toàn bộ API ngoài gặp sự cố mạng, hệ thống kích hoạt Local Fallback tức thì.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Tự động truy xuất danh sách điểm đến đã có sẵn trong PostgreSQL OSM Staging.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Dựng câu trả lời có đầy đủ tọa độ GPS và hướng dẫn mà không bị crash hệ thống.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12. THỰC NGHIỆM &amp; ĐÁNH GIÁ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Kết Quả Thực Nghiệm &amp; Giao Diện Người Dùng Thực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13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Trải Nghiệm Hội Thoại Chatbot Trực Quan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Mô tả chi tiết 5 phần chuẩn mực: Tổng quan &amp; Thời điểm đẹp -&gt; Lộ trình &amp; Phương tiện -&gt; Nơi lưu trú -&gt; Lịch trình chi tiết -&gt; Dự toán ngân sách.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Ảnh minh họa danh thắng chuẩn 100%: Phần I mở đầu bằng ảnh toàn cảnh Dốc Thẩm Mã hùng vĩ, Phần IV có ảnh Đèo Mã Pí Lèng, Cột cờ Lũng Cú.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Tích hợp link Google Maps: Khách bấm trực tiếp vào liên kết để điện thoại tự mở app bản đồ dẫn đường.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Hỗ trợ đa ngôn ngữ: Tự động phát hiện và phản hồi bằng Tiếng Việt, Tiếng Anh, Tiếng Trung, Tiếng Hàn, Tiếng Nhật.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Giao Diện Tab Lịch Trình (Itinerary Cards)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Hiển thị timeline chuyên nghiệp theo từng ngày với số thứ tự điểm dừng rõ ràng.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Chỉ dẫn cự ly di chuyển dạng Leg-Pills: Thể hiện 'Xe máy/Taxi (~10 km, ~15-20 phút)' giữa 2 điểm dừng kế tiếp mà không bị co méo giao diện.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Đánh giá &amp; Giờ mở cửa: Phân loại rõ quán ăn, danh lam thắng cảnh, homestay.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Lưu lịch sử &amp; Đăng nhập: Hệ thống xác thực JWT lưu lịch sử chuyến đi của từng tài khoản người dùng.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8395"/>
          </a:solidFill>
          <a:ln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88395"/>
                </a:solidFill>
              </a:defRPr>
            </a:pPr>
            <a:r>
              <a:t>13. ĐỊNH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4D68"/>
                </a:solidFill>
              </a:defRPr>
            </a:pPr>
            <a:r>
              <a:t>Định Hướng Phát Triển Tương Lai &amp; Khả Năng Mở Rộng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</a:defRPr>
            </a:pPr>
            <a:r>
              <a:t>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1. Tích Hợp Booking API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Liên kết API đặt phòng khách sạn (Agoda, Booking.com) và vé máy bay trực tiếp trong lịch trình.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Người dùng có thể bấm thanh toán vé tham quan qua cổng VNPay / MoMo ngay trên ứng dụng.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Tự động gửi vé điện tử (E-ticket) và lịch trình chi tiết qua Email người dùng.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2. Mở Rộng Dữ Liệu Quốc Tế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Mở rộng bản đồ dữ liệu OSM từ Việt Nam sang các nước Đông Nam Á lân cận (Thái Lan, Lào, Campuchia, Singapore).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Bổ sung tính năng chuyển đổi ngoại tệ tự động trong Tác tử Ngân sách theo tỷ giá liên ngân hàng thời gian thực.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A4D68"/>
                </a:solidFill>
              </a:defRPr>
            </a:pPr>
            <a:r>
              <a:t>3. Nâng Cấp Hạ Tầng Quy Mô Lớn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Chuyển đổi các Agent tác vụ nặng (Cào ảnh, Lập lịch) thành các Worker bất đồng bộ chạy qua Celery &amp; RabbitMQ.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Triển khai Redis Cache để lưu đệm các lịch trình và ảnh điểm đến phổ biến, giảm 80% chi phí gọi LLM.</a:t>
            </a:r>
          </a:p>
          <a:p>
            <a:pPr>
              <a:spcAft>
                <a:spcPts val="500"/>
              </a:spcAft>
              <a:defRPr sz="1050">
                <a:solidFill>
                  <a:srgbClr val="1A2228"/>
                </a:solidFill>
              </a:defRPr>
            </a:pPr>
            <a:r>
              <a:t>• Xây dựng ứng dụng di động Native (Flutter / React Native) có tính năng định vị GPS offline khi mất sóng đèo núi.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D68"/>
          </a:solidFill>
          <a:ln>
            <a:solidFill>
              <a:srgbClr val="0A4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5BFDB"/>
          </a:solidFill>
          <a:ln>
            <a:solidFill>
              <a:srgbClr val="05B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5BFDB"/>
                </a:solidFill>
              </a:defRPr>
            </a:pPr>
            <a:r>
              <a:t>KẾT LUẬN &amp; TỔNG KẾT DỰ ÁN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VietTravel AI: Hiện Thực Hóa Chuyển Đổi Số Trong Du Lịch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651760"/>
            <a:ext cx="9966960" cy="2560320"/>
          </a:xfrm>
          <a:prstGeom prst="roundRect">
            <a:avLst/>
          </a:prstGeom>
          <a:solidFill>
            <a:srgbClr val="0E5D7E"/>
          </a:solidFill>
          <a:ln w="12700">
            <a:solidFill>
              <a:srgbClr val="05B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18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Chứng minh tính khả thi và ưu việt vượt trội của kiến trúc Hệ Đa Tác Tử (Multi-Agent System) so với các LLM đơn lẻ truyền thống.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Giải quyết triệt để 3 bài toán lớn: Xóa bỏ hoàn toàn lỗi ảo giác (Hallucination), Cào ảnh thực địa sống động theo thời gian thực và Tính toán ngân sách tất định.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Sẵn sàng triển khai thực tiễn: Hệ thống đã hoàn thiện backend Flask-RESTX, Docker CSDL PostgreSQL 30.800+ POIs và giao diện người dùng mượt mà.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5BFDB"/>
                </a:solidFill>
              </a:defRPr>
            </a:pPr>
            <a:r>
              <a:t>XIN TRÂN TRỌNG CẢM ƠN THẦY/CÔ VÀ HỘI ĐỒNG ĐÃ LẮNG NGHE!</a:t>
            </a:r>
            <a:br/>
            <a:r>
              <a:t>EM XIN SẴN SÀNG ĐÓN NHẬN CÁC CÂU HỎI PHẢN BIỆN.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